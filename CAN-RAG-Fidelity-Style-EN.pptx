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193"/>
                </a:solidFill>
                <a:latin typeface="Arial"/>
              </a:defRPr>
            </a:pPr>
            <a:r>
              <a:t>Fidelity International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6193"/>
                </a:solidFill>
                <a:latin typeface="Arial"/>
              </a:defRPr>
            </a:pPr>
            <a:r>
              <a:t>CAN-RAG</a:t>
            </a:r>
            <a:br/>
            <a:r>
              <a:t>Knowledge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0242B"/>
                </a:solidFill>
                <a:latin typeface="Arial"/>
              </a:defRPr>
            </a:pPr>
            <a:r>
              <a:t>Turn enterprise knowledge</a:t>
            </a:r>
            <a:br/>
            <a:r>
              <a:t>into conversational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4956"/>
                </a:solidFill>
                <a:latin typeface="Arial"/>
              </a:defRPr>
            </a:pPr>
            <a:r>
              <a:t>FIC-INVESTLY AI · Frontend + FastAPI RAG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14956"/>
                </a:solidFill>
                <a:latin typeface="Arial"/>
              </a:defRPr>
            </a:pPr>
            <a:r>
              <a:t>15-minute project share  ·  June 2026  ·  Internal review</a:t>
            </a:r>
          </a:p>
        </p:txBody>
      </p:sp>
      <p:pic>
        <p:nvPicPr>
          <p:cNvPr id="11" name="Picture 10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Four topics for today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0242B"/>
                </a:solidFill>
                <a:latin typeface="Arial"/>
              </a:defRPr>
            </a:pPr>
            <a:r>
              <a:rPr b="1"/>
              <a:t>01  Business value</a:t>
            </a:r>
            <a:br/>
            <a:r>
              <a:t>Why traceable knowledge-base Q&amp;A matters</a:t>
            </a:r>
          </a:p>
          <a:p>
            <a:pPr>
              <a:spcAft>
                <a:spcPts val="1400"/>
              </a:spcAft>
              <a:defRPr sz="2000">
                <a:solidFill>
                  <a:srgbClr val="20242B"/>
                </a:solidFill>
                <a:latin typeface="Arial"/>
              </a:defRPr>
            </a:pPr>
            <a:r>
              <a:rPr b="1"/>
              <a:t>02  Product experience</a:t>
            </a:r>
            <a:br/>
            <a:r>
              <a:t>A unified workspace for chat and knowledge bases</a:t>
            </a:r>
          </a:p>
          <a:p>
            <a:pPr>
              <a:spcAft>
                <a:spcPts val="1400"/>
              </a:spcAft>
              <a:defRPr sz="2000">
                <a:solidFill>
                  <a:srgbClr val="20242B"/>
                </a:solidFill>
                <a:latin typeface="Arial"/>
              </a:defRPr>
            </a:pPr>
            <a:r>
              <a:rPr b="1"/>
              <a:t>03  Technical architecture</a:t>
            </a:r>
            <a:br/>
            <a:r>
              <a:t>End-to-end RAG and engineering design</a:t>
            </a:r>
          </a:p>
          <a:p>
            <a:pPr>
              <a:spcAft>
                <a:spcPts val="1400"/>
              </a:spcAft>
              <a:defRPr sz="2000">
                <a:solidFill>
                  <a:srgbClr val="20242B"/>
                </a:solidFill>
                <a:latin typeface="Arial"/>
              </a:defRPr>
            </a:pPr>
            <a:r>
              <a:rPr b="1"/>
              <a:t>04  Demo &amp; roadmap</a:t>
            </a:r>
            <a:br/>
            <a:r>
              <a:t>15-minute demo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Fidelity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Why RAG matters</a:t>
            </a:r>
          </a:p>
        </p:txBody>
      </p:sp>
      <p:pic>
        <p:nvPicPr>
          <p:cNvPr id="9" name="Picture 8" descr="fil-logo-rever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Knowledge is not scarce — it is hard to find, hard to trust, and slow to reuse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42B"/>
                </a:solidFill>
                <a:latin typeface="Arial"/>
              </a:defRPr>
            </a:pPr>
            <a:r>
              <a:rPr b="1"/>
              <a:t>Scattered information</a:t>
            </a:r>
            <a:br/>
            <a:r>
              <a:t>PDFs, web pages, documents, and meeting materials sit in different places. Manual search is costly and knowledge rarely compounds.</a:t>
            </a:r>
          </a:p>
          <a:p>
            <a:pPr>
              <a:spcAft>
                <a:spcPts val="1400"/>
              </a:spcAft>
              <a:defRPr sz="1700">
                <a:solidFill>
                  <a:srgbClr val="20242B"/>
                </a:solidFill>
                <a:latin typeface="Arial"/>
              </a:defRPr>
            </a:pPr>
            <a:r>
              <a:rPr b="1"/>
              <a:t>Answers without provenance</a:t>
            </a:r>
            <a:br/>
            <a:r>
              <a:t>Generic chatbots can respond but cannot cite sources. In research and compliance contexts, that erodes business trust.</a:t>
            </a:r>
          </a:p>
          <a:p>
            <a:pPr>
              <a:spcAft>
                <a:spcPts val="1400"/>
              </a:spcAft>
              <a:defRPr sz="1700">
                <a:solidFill>
                  <a:srgbClr val="20242B"/>
                </a:solidFill>
                <a:latin typeface="Arial"/>
              </a:defRPr>
            </a:pPr>
            <a:r>
              <a:rPr b="1"/>
              <a:t>Iteration without control</a:t>
            </a:r>
            <a:br/>
            <a:r>
              <a:t>Upload, parse, index, and retrieve need engineering discipline — not a one-off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Fidelity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PART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Product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Product experience</a:t>
            </a:r>
          </a:p>
        </p:txBody>
      </p:sp>
      <p:pic>
        <p:nvPicPr>
          <p:cNvPr id="9" name="Picture 8" descr="fil-logo-rever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ChatGPT-simple UX — answers grounded in your knowledge bases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33832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3383280" cy="73152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Streaming multi-turn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SSE token streaming with pause, resend, and regenerate.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25880"/>
            <a:ext cx="33832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25880"/>
            <a:ext cx="3383280" cy="73152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Knowledge-base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Multi-select KBs in the composer for controlled retrieval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325880"/>
            <a:ext cx="33832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325880"/>
            <a:ext cx="3383280" cy="73152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Explainable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3317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Expand “Answer sources” to view chunk text and original documents.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knowledge base is the product control plane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33832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3383280" cy="73152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File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Local files enter an asynchronous import-job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25880"/>
            <a:ext cx="33832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25880"/>
            <a:ext cx="3383280" cy="73152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Web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URLs are fetched as Markdown and ingested through the same path.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325880"/>
            <a:ext cx="338328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325880"/>
            <a:ext cx="3383280" cy="73152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Hit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3317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Standalone retrieval checks to validate recall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Fidelity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PART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Under the hood</a:t>
            </a:r>
          </a:p>
        </p:txBody>
      </p:sp>
      <p:pic>
        <p:nvPicPr>
          <p:cNvPr id="9" name="Picture 8" descr="fil-logo-rever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From upload to answer — observable and swappable at every step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234440" cy="86868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Upload</a:t>
            </a:r>
            <a:br/>
            <a:r>
              <a:t>/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9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371600"/>
            <a:ext cx="1234440" cy="868680"/>
          </a:xfrm>
          <a:prstGeom prst="rect">
            <a:avLst/>
          </a:prstGeom>
          <a:solidFill>
            <a:srgbClr val="414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9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1234440" cy="868680"/>
          </a:xfrm>
          <a:prstGeom prst="rect">
            <a:avLst/>
          </a:prstGeom>
          <a:solidFill>
            <a:srgbClr val="414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9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371600"/>
            <a:ext cx="1234440" cy="868680"/>
          </a:xfrm>
          <a:prstGeom prst="rect">
            <a:avLst/>
          </a:prstGeom>
          <a:solidFill>
            <a:srgbClr val="414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9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371600"/>
            <a:ext cx="1234440" cy="868680"/>
          </a:xfrm>
          <a:prstGeom prst="rect">
            <a:avLst/>
          </a:prstGeom>
          <a:solidFill>
            <a:srgbClr val="414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9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371600"/>
            <a:ext cx="1234440" cy="868680"/>
          </a:xfrm>
          <a:prstGeom prst="rect">
            <a:avLst/>
          </a:prstGeom>
          <a:solidFill>
            <a:srgbClr val="414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9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1371600"/>
            <a:ext cx="1234440" cy="86868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1481328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193"/>
                </a:solidFill>
                <a:latin typeface="Arial"/>
              </a:defRPr>
            </a:pPr>
            <a:r>
              <a:t>Import 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2514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Parse, chunk, embed, and index run in stages with progress and retry on failure.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193"/>
                </a:solidFill>
                <a:latin typeface="Arial"/>
              </a:defRPr>
            </a:pPr>
            <a:r>
              <a:t>Search hit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74904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Results include citation, chunkId, and similarity score — answers trace back line by 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193"/>
                </a:solidFill>
                <a:latin typeface="Arial"/>
              </a:defRPr>
            </a:pPr>
            <a:r>
              <a:t>Streaming 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9834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System prompt + history + retrieved sources power multi-turn SSE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QUALITY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More than chunking — a two-layer structure for explainable retrieval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80160"/>
            <a:ext cx="73152" cy="1143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Data chunk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Optimized for display and citation: preserves fuller source semantics; citations map to data_id.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97480"/>
            <a:ext cx="73152" cy="1143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Index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97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Optimized for recall: shorter segments for embedding; optional file/title prefixes improve interpretability.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14800"/>
            <a:ext cx="73152" cy="1143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Aggregation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Retrieve Index hits, then aggregate back to Data by data_id — accurate and readable answers.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14956"/>
                </a:solidFill>
                <a:latin typeface="Arial"/>
              </a:defRPr>
            </a:pPr>
            <a:r>
              <a:t>Supports default / page / custom segmentation. PDFs can use VLM enhancement to convert page content to Markdown before entering the same RAG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Fast frontend, stable backend — connected by standard APIs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534924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44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193"/>
                </a:solidFill>
                <a:latin typeface="Arial"/>
              </a:defRPr>
            </a:pPr>
            <a:r>
              <a:t>Next.js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42B"/>
                </a:solidFill>
                <a:latin typeface="Arial"/>
              </a:defRPr>
            </a:pPr>
            <a:r>
              <a:t>App Router · Tailwind · Radix UI · SSE proxy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34924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44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193"/>
                </a:solidFill>
                <a:latin typeface="Arial"/>
              </a:defRPr>
            </a:pPr>
            <a:r>
              <a:t>FastAPI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42B"/>
                </a:solidFill>
                <a:latin typeface="Arial"/>
              </a:defRPr>
            </a:pPr>
            <a:r>
              <a:t>Auth · Conversations · KB APIs · Import jobs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26080"/>
            <a:ext cx="534924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193"/>
                </a:solidFill>
                <a:latin typeface="Arial"/>
              </a:defRPr>
            </a:pPr>
            <a:r>
              <a:t>RAG backends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42B"/>
                </a:solidFill>
                <a:latin typeface="Arial"/>
              </a:defRPr>
            </a:pPr>
            <a:r>
              <a:t>local · pgvector · LangChain · FastGPT/OpenAI (planned)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926080"/>
            <a:ext cx="534924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35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193"/>
                </a:solidFill>
                <a:latin typeface="Arial"/>
              </a:defRPr>
            </a:pPr>
            <a:r>
              <a:t>PostgreSQL / 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42B"/>
                </a:solidFill>
                <a:latin typeface="Arial"/>
              </a:defRPr>
            </a:pPr>
            <a:r>
              <a:t>Production vector store (HNSW) and session persistence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617720"/>
            <a:ext cx="534924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193"/>
                </a:solidFill>
                <a:latin typeface="Arial"/>
              </a:defRPr>
            </a:pPr>
            <a:r>
              <a:t>LangSmith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42B"/>
                </a:solidFill>
                <a:latin typeface="Arial"/>
              </a:defRPr>
            </a:pPr>
            <a:r>
              <a:t>Observable tracing across indexing and retrieval.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617720"/>
            <a:ext cx="534924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193"/>
                </a:solidFill>
                <a:latin typeface="Arial"/>
              </a:defRPr>
            </a:pPr>
            <a:r>
              <a:t>Docker /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074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42B"/>
                </a:solidFill>
                <a:latin typeface="Arial"/>
              </a:defRPr>
            </a:pPr>
            <a:r>
              <a:t>One-command local PG; 50+ automated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Fidelity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PART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Demo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Demo &amp; roadmap</a:t>
            </a:r>
          </a:p>
        </p:txBody>
      </p:sp>
      <p:pic>
        <p:nvPicPr>
          <p:cNvPr id="9" name="Picture 8" descr="fil-logo-rever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15-MINUTE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Four actions that communicate the value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72F2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Sign in to the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184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Position this as the Fidelity AI knowledge assistant — not a generic web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72F2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68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Open a 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52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Show KB list, file counts, ownership, and management capabilities.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72F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03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Import a document or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873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Walk through the import job: parse, chunk, embed, index.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72F2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37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Ask a question and review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218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Stress answers grounded in enterprise knowledge — multi-turn with traceable citations.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96012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From a working demo to a team pilot</a:t>
            </a:r>
          </a:p>
        </p:txBody>
      </p:sp>
      <p:pic>
        <p:nvPicPr>
          <p:cNvPr id="7" name="Picture 6" descr="fi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14956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1495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33832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Pilot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Curate real business documents — research reports, process manuals, FAQs — to validate recall quality.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25880"/>
            <a:ext cx="33832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Production 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Permissions, audit, deployment, monitoring; stable model config and cost 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325880"/>
            <a:ext cx="33832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508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Business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1945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  <a:latin typeface="Arial"/>
              </a:defRPr>
            </a:pPr>
            <a:r>
              <a:t>Measure time saved searching, answer adoption rate, and citation hit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92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193"/>
                </a:solidFill>
                <a:latin typeface="Arial"/>
              </a:defRPr>
            </a:pPr>
            <a:r>
              <a:t>In one line: CAN-RAG upgrades a document library into a trustworthy Q&amp;A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Fidelity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CAN-RAG is not just a chat window.</a:t>
            </a:r>
            <a:br/>
            <a:r>
              <a:t>It is the front door to enterprise 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Share · Search · Cite ·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pic>
        <p:nvPicPr>
          <p:cNvPr id="8" name="Picture 7" descr="fil-logo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263640"/>
            <a:ext cx="1737360" cy="545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For internal use only. Not for general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